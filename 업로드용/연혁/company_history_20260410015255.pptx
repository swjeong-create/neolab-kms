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28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7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10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3350362" y="2286000"/>
            <a:ext cx="54909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NeoLAB Convergence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3752698" y="3105302"/>
            <a:ext cx="4686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2009-2026 주요 연혁과 성과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333195" y="2995574"/>
            <a:ext cx="9525305" cy="13908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14500" y="3233318"/>
            <a:ext cx="1072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연혁 타임라인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763963" y="3252521"/>
            <a:ext cx="9875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2009 - 2026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075481" y="522046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17+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4059936" y="5695950"/>
            <a:ext cx="7178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년간의 성장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156302" y="5220462"/>
            <a:ext cx="8385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12+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5114239" y="5695950"/>
            <a:ext cx="92354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제품 출시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385255" y="5220462"/>
            <a:ext cx="7242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25+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6349594" y="5695950"/>
            <a:ext cx="7955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 및 선정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7500823" y="5220462"/>
            <a:ext cx="6199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35+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7500823" y="5695950"/>
            <a:ext cx="6199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진출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81305" y="6510528"/>
            <a:ext cx="152705" cy="152705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414223" y="6538874"/>
            <a:ext cx="85954" cy="9509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90702" y="6505956"/>
            <a:ext cx="8513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기반 확보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475842" y="6510528"/>
            <a:ext cx="152705" cy="152705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1509674" y="6538874"/>
            <a:ext cx="85954" cy="9509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85239" y="6505956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다각화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434133" y="6510528"/>
            <a:ext cx="152705" cy="152705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2467051" y="6538874"/>
            <a:ext cx="85954" cy="9509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643530" y="6505956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인정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3391510" y="6510528"/>
            <a:ext cx="152705" cy="152705"/>
          </a:xfrm>
          <a:prstGeom prst="ellipse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3425342" y="6538874"/>
            <a:ext cx="85954" cy="9509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600907" y="6505956"/>
            <a:ext cx="8787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플랫폼 확장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0287000" y="952805"/>
            <a:ext cx="952805" cy="952805"/>
          </a:xfrm>
          <a:prstGeom prst="ellipse">
            <a:avLst/>
          </a:prstGeom>
          <a:noFill/>
          <a:ln w="12700">
            <a:solidFill>
              <a:srgbClr val="FF6B35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952805" y="5143500"/>
            <a:ext cx="761695" cy="761695"/>
          </a:xfrm>
          <a:prstGeom prst="ellipse">
            <a:avLst/>
          </a:prstGeom>
          <a:noFill/>
          <a:ln w="12700">
            <a:solidFill>
              <a:srgbClr val="FF6B35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6"/>
          <a:srcRect t="-402" b="-402"/>
          <a:stretch/>
        </p:blipFill>
        <p:spPr>
          <a:xfrm>
            <a:off x="1714500" y="3866998"/>
            <a:ext cx="8762695" cy="19202"/>
          </a:xfrm>
          <a:prstGeom prst="rect">
            <a:avLst/>
          </a:prstGeom>
        </p:spPr>
      </p:pic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/>
          <a:srcRect t="-399" b="-399"/>
          <a:stretch/>
        </p:blipFill>
        <p:spPr>
          <a:xfrm>
            <a:off x="1714500" y="3866998"/>
            <a:ext cx="7448702" cy="19202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787652" y="3700577"/>
            <a:ext cx="114300" cy="11430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1"/>
          <p:cNvSpPr txBox="1"/>
          <p:nvPr/>
        </p:nvSpPr>
        <p:spPr>
          <a:xfrm>
            <a:off x="1714500" y="3890772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2009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3488436" y="3700577"/>
            <a:ext cx="114300" cy="11430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3"/>
          <p:cNvSpPr txBox="1"/>
          <p:nvPr/>
        </p:nvSpPr>
        <p:spPr>
          <a:xfrm>
            <a:off x="3415284" y="3890772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5188306" y="3700577"/>
            <a:ext cx="114300" cy="11430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5"/>
          <p:cNvSpPr txBox="1"/>
          <p:nvPr/>
        </p:nvSpPr>
        <p:spPr>
          <a:xfrm>
            <a:off x="5115154" y="3890772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6889090" y="3700577"/>
            <a:ext cx="114300" cy="11430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7"/>
          <p:cNvSpPr txBox="1"/>
          <p:nvPr/>
        </p:nvSpPr>
        <p:spPr>
          <a:xfrm>
            <a:off x="6815938" y="3890772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8589874" y="3700577"/>
            <a:ext cx="114300" cy="11430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9"/>
          <p:cNvSpPr txBox="1"/>
          <p:nvPr/>
        </p:nvSpPr>
        <p:spPr>
          <a:xfrm>
            <a:off x="8515807" y="3890772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10289743" y="3700577"/>
            <a:ext cx="114300" cy="1143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1"/>
          <p:cNvSpPr txBox="1"/>
          <p:nvPr/>
        </p:nvSpPr>
        <p:spPr>
          <a:xfrm>
            <a:off x="10216591" y="3890772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900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D90300DB-D79F-B0CF-453D-95356A37A6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09" y="61579"/>
            <a:ext cx="1447119" cy="557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09905" y="190195"/>
            <a:ext cx="31528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37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연혁 타임라인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599846"/>
            <a:ext cx="3521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NeoLAB </a:t>
            </a:r>
            <a:r>
              <a:rPr lang="en-US" sz="9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Convergence의</a:t>
            </a: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연혁 및 성과 (2009-2026)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42371" y="345643"/>
            <a:ext cx="847649" cy="286207"/>
          </a:xfrm>
          <a:prstGeom prst="roundRect">
            <a:avLst>
              <a:gd name="adj" fmla="val 31948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14025" y="345643"/>
            <a:ext cx="905256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2009 - 2026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609905" y="2290115"/>
            <a:ext cx="10972800" cy="1920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4654" y="2099919"/>
            <a:ext cx="133502" cy="1335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3951" y="2290115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2009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564185" y="2494940"/>
            <a:ext cx="1234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</a:t>
            </a:r>
            <a:endParaRPr lang="en-US" sz="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52344" y="2099919"/>
            <a:ext cx="133502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162556" y="2290115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2201875" y="2494940"/>
            <a:ext cx="1234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기술대상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90949" y="2099919"/>
            <a:ext cx="133502" cy="1335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800246" y="2290115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3840480" y="2494940"/>
            <a:ext cx="1234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해외진출</a:t>
            </a:r>
            <a:endParaRPr lang="en-US" sz="8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29554" y="2099919"/>
            <a:ext cx="133502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38851" y="2290115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2018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5479085" y="2494940"/>
            <a:ext cx="1234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수출탑</a:t>
            </a:r>
            <a:endParaRPr lang="en-US" sz="8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67244" y="2099919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77456" y="2290115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7077456" y="2494940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플랫폼</a:t>
            </a:r>
            <a:endParaRPr lang="en-US" sz="8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05849" y="2099919"/>
            <a:ext cx="133502" cy="13350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715146" y="2290115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8755380" y="2494940"/>
            <a:ext cx="12344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신제품</a:t>
            </a:r>
            <a:endParaRPr lang="en-US" sz="8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44454" y="2099919"/>
            <a:ext cx="133502" cy="13350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353751" y="2290115"/>
            <a:ext cx="1314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10353751" y="2494940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시스템</a:t>
            </a:r>
            <a:endParaRPr lang="en-US" sz="800" dirty="0"/>
          </a:p>
        </p:txBody>
      </p:sp>
      <p:sp>
        <p:nvSpPr>
          <p:cNvPr id="30" name="Shape 20"/>
          <p:cNvSpPr/>
          <p:nvPr/>
        </p:nvSpPr>
        <p:spPr>
          <a:xfrm>
            <a:off x="609905" y="2938424"/>
            <a:ext cx="2743200" cy="981151"/>
          </a:xfrm>
          <a:prstGeom prst="roundRect">
            <a:avLst>
              <a:gd name="adj" fmla="val 1447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1"/>
          <p:cNvSpPr/>
          <p:nvPr/>
        </p:nvSpPr>
        <p:spPr>
          <a:xfrm>
            <a:off x="609905" y="2938424"/>
            <a:ext cx="38405" cy="981151"/>
          </a:xfrm>
          <a:prstGeom prst="roundRect">
            <a:avLst>
              <a:gd name="adj" fmla="val 369855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2"/>
          <p:cNvSpPr txBox="1"/>
          <p:nvPr/>
        </p:nvSpPr>
        <p:spPr>
          <a:xfrm>
            <a:off x="780898" y="3071012"/>
            <a:ext cx="2536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2009-2013: 설립 및 기술 기반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780898" y="3314243"/>
            <a:ext cx="25146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2009: NeoLAB Convergence 설립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2010: 소리펜 출시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2013: 대한민국 기술대상 수상 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3353105" y="2938424"/>
            <a:ext cx="2743200" cy="981151"/>
          </a:xfrm>
          <a:prstGeom prst="roundRect">
            <a:avLst>
              <a:gd name="adj" fmla="val 1447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5"/>
          <p:cNvSpPr/>
          <p:nvPr/>
        </p:nvSpPr>
        <p:spPr>
          <a:xfrm>
            <a:off x="3353105" y="2938424"/>
            <a:ext cx="38405" cy="981151"/>
          </a:xfrm>
          <a:prstGeom prst="roundRect">
            <a:avLst>
              <a:gd name="adj" fmla="val 369855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6"/>
          <p:cNvSpPr txBox="1"/>
          <p:nvPr/>
        </p:nvSpPr>
        <p:spPr>
          <a:xfrm>
            <a:off x="3524098" y="3071012"/>
            <a:ext cx="2536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2014-2018: 제품 다각화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3524098" y="3314243"/>
            <a:ext cx="25146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2014: Neo.1 스마트펜 출시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2015: N2 Kickstarter 36만불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2018: 1천만불 수출탑 </a:t>
            </a:r>
            <a:endParaRPr lang="en-US" sz="800" dirty="0"/>
          </a:p>
        </p:txBody>
      </p:sp>
      <p:sp>
        <p:nvSpPr>
          <p:cNvPr id="38" name="Shape 28"/>
          <p:cNvSpPr/>
          <p:nvPr/>
        </p:nvSpPr>
        <p:spPr>
          <a:xfrm>
            <a:off x="6096305" y="2938424"/>
            <a:ext cx="2743200" cy="981151"/>
          </a:xfrm>
          <a:prstGeom prst="roundRect">
            <a:avLst>
              <a:gd name="adj" fmla="val 1447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9"/>
          <p:cNvSpPr/>
          <p:nvPr/>
        </p:nvSpPr>
        <p:spPr>
          <a:xfrm>
            <a:off x="6096305" y="2938424"/>
            <a:ext cx="38405" cy="981151"/>
          </a:xfrm>
          <a:prstGeom prst="roundRect">
            <a:avLst>
              <a:gd name="adj" fmla="val 369855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0"/>
          <p:cNvSpPr txBox="1"/>
          <p:nvPr/>
        </p:nvSpPr>
        <p:spPr>
          <a:xfrm>
            <a:off x="6267298" y="3071012"/>
            <a:ext cx="2536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2019-2024: AI 플랫폼 확장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6267298" y="3314243"/>
            <a:ext cx="25146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2019: N2 Smart Writing Set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2022: AI 기반 플랫폼 사업화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2024: 네오스마트펜 A1, R1 </a:t>
            </a:r>
            <a:endParaRPr lang="en-US" sz="800" dirty="0"/>
          </a:p>
        </p:txBody>
      </p:sp>
      <p:sp>
        <p:nvSpPr>
          <p:cNvPr id="42" name="Shape 32"/>
          <p:cNvSpPr/>
          <p:nvPr/>
        </p:nvSpPr>
        <p:spPr>
          <a:xfrm>
            <a:off x="8839505" y="2938424"/>
            <a:ext cx="2743200" cy="981151"/>
          </a:xfrm>
          <a:prstGeom prst="roundRect">
            <a:avLst>
              <a:gd name="adj" fmla="val 14477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3"/>
          <p:cNvSpPr/>
          <p:nvPr/>
        </p:nvSpPr>
        <p:spPr>
          <a:xfrm>
            <a:off x="8839505" y="2938424"/>
            <a:ext cx="38405" cy="981151"/>
          </a:xfrm>
          <a:prstGeom prst="roundRect">
            <a:avLst>
              <a:gd name="adj" fmla="val 369855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9010498" y="3071012"/>
            <a:ext cx="2536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2026: AI 시스템 출시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9010498" y="3314243"/>
            <a:ext cx="25146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2026.03: 서논술 AI 평가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시스템 '아이글' 출시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AI 기반 평가 플랫폼 확장 </a:t>
            </a:r>
            <a:endParaRPr lang="en-US" sz="800" dirty="0"/>
          </a:p>
        </p:txBody>
      </p:sp>
      <p:sp>
        <p:nvSpPr>
          <p:cNvPr id="46" name="Shape 36"/>
          <p:cNvSpPr/>
          <p:nvPr/>
        </p:nvSpPr>
        <p:spPr>
          <a:xfrm>
            <a:off x="609905" y="5067605"/>
            <a:ext cx="109728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7"/>
          <p:cNvSpPr txBox="1"/>
          <p:nvPr/>
        </p:nvSpPr>
        <p:spPr>
          <a:xfrm>
            <a:off x="609905" y="5191049"/>
            <a:ext cx="381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17+</a:t>
            </a:r>
            <a:endParaRPr lang="en-US" sz="1300" dirty="0"/>
          </a:p>
        </p:txBody>
      </p:sp>
      <p:sp>
        <p:nvSpPr>
          <p:cNvPr id="48" name="Text 38"/>
          <p:cNvSpPr txBox="1"/>
          <p:nvPr/>
        </p:nvSpPr>
        <p:spPr>
          <a:xfrm>
            <a:off x="970178" y="5241341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년 연혁</a:t>
            </a:r>
            <a:endParaRPr lang="en-US" sz="800" dirty="0"/>
          </a:p>
        </p:txBody>
      </p:sp>
      <p:sp>
        <p:nvSpPr>
          <p:cNvPr id="49" name="Text 39"/>
          <p:cNvSpPr txBox="1"/>
          <p:nvPr/>
        </p:nvSpPr>
        <p:spPr>
          <a:xfrm>
            <a:off x="1479499" y="5191049"/>
            <a:ext cx="381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20+</a:t>
            </a:r>
            <a:endParaRPr lang="en-US" sz="1300" dirty="0"/>
          </a:p>
        </p:txBody>
      </p:sp>
      <p:sp>
        <p:nvSpPr>
          <p:cNvPr id="50" name="Text 40"/>
          <p:cNvSpPr txBox="1"/>
          <p:nvPr/>
        </p:nvSpPr>
        <p:spPr>
          <a:xfrm>
            <a:off x="1840687" y="5241341"/>
            <a:ext cx="505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수상/인증</a:t>
            </a:r>
            <a:endParaRPr lang="en-US" sz="800" dirty="0"/>
          </a:p>
        </p:txBody>
      </p:sp>
      <p:sp>
        <p:nvSpPr>
          <p:cNvPr id="51" name="Text 41"/>
          <p:cNvSpPr txBox="1"/>
          <p:nvPr/>
        </p:nvSpPr>
        <p:spPr>
          <a:xfrm>
            <a:off x="2457907" y="5191049"/>
            <a:ext cx="381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12+</a:t>
            </a:r>
            <a:endParaRPr lang="en-US" sz="1300" dirty="0"/>
          </a:p>
        </p:txBody>
      </p:sp>
      <p:sp>
        <p:nvSpPr>
          <p:cNvPr id="52" name="Text 42"/>
          <p:cNvSpPr txBox="1"/>
          <p:nvPr/>
        </p:nvSpPr>
        <p:spPr>
          <a:xfrm>
            <a:off x="2818181" y="5241341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출시</a:t>
            </a:r>
            <a:endParaRPr lang="en-US" sz="800" dirty="0"/>
          </a:p>
        </p:txBody>
      </p:sp>
      <p:sp>
        <p:nvSpPr>
          <p:cNvPr id="53" name="Text 43"/>
          <p:cNvSpPr txBox="1"/>
          <p:nvPr/>
        </p:nvSpPr>
        <p:spPr>
          <a:xfrm>
            <a:off x="10752430" y="5241341"/>
            <a:ext cx="10122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연혁만 표시됨 </a:t>
            </a:r>
            <a:endParaRPr lang="en-US" sz="800" dirty="0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580522" y="5273345"/>
            <a:ext cx="105156" cy="105156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609905" y="6495898"/>
            <a:ext cx="19156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NeoLAB convergence | 2009-2026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09905" y="952805"/>
            <a:ext cx="111639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제품 출시 현황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362456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2009년부터 2024년까지 </a:t>
            </a:r>
            <a:r>
              <a:rPr lang="en-US" sz="10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출시된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905" y="1590751"/>
            <a:ext cx="3534156" cy="1552043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82289" y="1590751"/>
            <a:ext cx="466344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3682289" y="1590751"/>
            <a:ext cx="5239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" y="1709776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" y="2005127"/>
            <a:ext cx="7050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09244" y="2005127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" y="2318766"/>
            <a:ext cx="32104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 인식 기능을 갖춘 디지털 펜으로, 교육 및 학습 환경에 최적화된 제품입니다.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9244" y="2805227"/>
            <a:ext cx="562356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09244" y="2805227"/>
            <a:ext cx="6199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음성인식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442923" y="2805227"/>
            <a:ext cx="371246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1442923" y="2805227"/>
            <a:ext cx="4288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83664" y="2805227"/>
            <a:ext cx="495605" cy="247802"/>
          </a:xfrm>
          <a:prstGeom prst="roundRect">
            <a:avLst>
              <a:gd name="adj" fmla="val 113540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883664" y="2805227"/>
            <a:ext cx="5532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제품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30598" y="1590751"/>
            <a:ext cx="3534156" cy="1552043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238390" y="1590751"/>
            <a:ext cx="629107" cy="2286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7238390" y="1590751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530852" y="1709776"/>
            <a:ext cx="1213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Neo.1 스마트펜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30852" y="2005127"/>
            <a:ext cx="7050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4530852" y="2005127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30852" y="2318766"/>
            <a:ext cx="32104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필기 인식 기능이 추가된 스마트펜으로, 디지털 변환 기능을 강화했습니다.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30852" y="2805227"/>
            <a:ext cx="562356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530852" y="2805227"/>
            <a:ext cx="6199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필기인식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63617" y="2805227"/>
            <a:ext cx="657454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5163617" y="2805227"/>
            <a:ext cx="7150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디지털변환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93308" y="2805227"/>
            <a:ext cx="562356" cy="247802"/>
          </a:xfrm>
          <a:prstGeom prst="roundRect">
            <a:avLst>
              <a:gd name="adj" fmla="val 113540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5893308" y="2805227"/>
            <a:ext cx="6199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스마트펜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52206" y="1590751"/>
            <a:ext cx="3534156" cy="1552043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124590" y="1590751"/>
            <a:ext cx="466344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11124590" y="1590751"/>
            <a:ext cx="5239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8251546" y="1709776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N2 Smart Writing Set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51546" y="2005127"/>
            <a:ext cx="7050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8251546" y="2005127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251546" y="2318766"/>
            <a:ext cx="36082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스마트라이팅 기술을 적용한 프리미엄 스마트펜 세트입니다.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51546" y="2618689"/>
            <a:ext cx="752551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8251546" y="2618689"/>
            <a:ext cx="8101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스마트라이팅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078163" y="2618689"/>
            <a:ext cx="562356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9078163" y="2618689"/>
            <a:ext cx="6199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710928" y="2618689"/>
            <a:ext cx="629107" cy="247802"/>
          </a:xfrm>
          <a:prstGeom prst="roundRect">
            <a:avLst>
              <a:gd name="adj" fmla="val 113540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 txBox="1"/>
          <p:nvPr/>
        </p:nvSpPr>
        <p:spPr>
          <a:xfrm>
            <a:off x="9710928" y="2618689"/>
            <a:ext cx="6858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N2 시리즈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09905" y="3172638"/>
            <a:ext cx="3534156" cy="1552043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3682289" y="3172638"/>
            <a:ext cx="466344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3682289" y="3172638"/>
            <a:ext cx="5239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809244" y="3285719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N2 접목 교육 솔루션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09244" y="3581071"/>
            <a:ext cx="7050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 txBox="1"/>
          <p:nvPr/>
        </p:nvSpPr>
        <p:spPr>
          <a:xfrm>
            <a:off x="809244" y="3581071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809244" y="3895624"/>
            <a:ext cx="362376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환경에 특화된 솔루션으로, N2 펜과 함께 사용됩니다.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9244" y="4195547"/>
            <a:ext cx="657454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809244" y="4195547"/>
            <a:ext cx="7150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교육솔루션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538935" y="4195547"/>
            <a:ext cx="314554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1538935" y="4195547"/>
            <a:ext cx="3721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N2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921154" y="4195547"/>
            <a:ext cx="466344" cy="247802"/>
          </a:xfrm>
          <a:prstGeom prst="roundRect">
            <a:avLst>
              <a:gd name="adj" fmla="val 113540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1921154" y="4195547"/>
            <a:ext cx="5239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330598" y="3172638"/>
            <a:ext cx="3534156" cy="1552043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7238390" y="3172638"/>
            <a:ext cx="629107" cy="2286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7238390" y="3172638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4530852" y="3285719"/>
            <a:ext cx="1279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네오스마트펜 M1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530852" y="3581071"/>
            <a:ext cx="7050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4530852" y="3581071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4530852" y="3895624"/>
            <a:ext cx="32104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경량화된 디자인과 향상된 배터리 성능을 갖춘 스마트펜입니다.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30852" y="4381171"/>
            <a:ext cx="466344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 txBox="1"/>
          <p:nvPr/>
        </p:nvSpPr>
        <p:spPr>
          <a:xfrm>
            <a:off x="4530852" y="4381171"/>
            <a:ext cx="5239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경량화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067605" y="4381171"/>
            <a:ext cx="466344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5067605" y="4381171"/>
            <a:ext cx="5239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604358" y="4381171"/>
            <a:ext cx="323698" cy="247802"/>
          </a:xfrm>
          <a:prstGeom prst="roundRect">
            <a:avLst>
              <a:gd name="adj" fmla="val 113540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5604358" y="4381171"/>
            <a:ext cx="3813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052206" y="3172638"/>
            <a:ext cx="3534156" cy="1552043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11124590" y="3172638"/>
            <a:ext cx="466344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 txBox="1"/>
          <p:nvPr/>
        </p:nvSpPr>
        <p:spPr>
          <a:xfrm>
            <a:off x="11124590" y="3172638"/>
            <a:ext cx="5239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8251546" y="3285719"/>
            <a:ext cx="812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페이퍼튜브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251546" y="3581071"/>
            <a:ext cx="7050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 txBox="1"/>
          <p:nvPr/>
        </p:nvSpPr>
        <p:spPr>
          <a:xfrm>
            <a:off x="8251546" y="3581071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8251546" y="3895624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종이와 디지털을 연결하는 혁신적인 제품입니다.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251546" y="4195547"/>
            <a:ext cx="562356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8251546" y="4195547"/>
            <a:ext cx="6199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종이연결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885225" y="4195547"/>
            <a:ext cx="371246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 txBox="1"/>
          <p:nvPr/>
        </p:nvSpPr>
        <p:spPr>
          <a:xfrm>
            <a:off x="8885225" y="4195547"/>
            <a:ext cx="4288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혁신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9325966" y="4195547"/>
            <a:ext cx="466344" cy="247802"/>
          </a:xfrm>
          <a:prstGeom prst="roundRect">
            <a:avLst>
              <a:gd name="adj" fmla="val 113540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3"/>
          <p:cNvSpPr txBox="1"/>
          <p:nvPr/>
        </p:nvSpPr>
        <p:spPr>
          <a:xfrm>
            <a:off x="9325966" y="4195547"/>
            <a:ext cx="5239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신제품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09905" y="4765305"/>
            <a:ext cx="3534156" cy="1552043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3682289" y="4765305"/>
            <a:ext cx="466344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 txBox="1"/>
          <p:nvPr/>
        </p:nvSpPr>
        <p:spPr>
          <a:xfrm>
            <a:off x="3682289" y="4765305"/>
            <a:ext cx="5239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</a:t>
            </a:r>
            <a:endParaRPr lang="en-US" sz="800" dirty="0"/>
          </a:p>
        </p:txBody>
      </p:sp>
      <p:sp>
        <p:nvSpPr>
          <p:cNvPr id="99" name="Text 97"/>
          <p:cNvSpPr txBox="1"/>
          <p:nvPr/>
        </p:nvSpPr>
        <p:spPr>
          <a:xfrm>
            <a:off x="809244" y="4865711"/>
            <a:ext cx="127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네오스마트펜 A1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809244" y="5161063"/>
            <a:ext cx="7050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9"/>
          <p:cNvSpPr txBox="1"/>
          <p:nvPr/>
        </p:nvSpPr>
        <p:spPr>
          <a:xfrm>
            <a:off x="809244" y="5161063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endParaRPr lang="en-US" sz="900" dirty="0"/>
          </a:p>
        </p:txBody>
      </p:sp>
      <p:sp>
        <p:nvSpPr>
          <p:cNvPr id="103" name="Text 101"/>
          <p:cNvSpPr txBox="1"/>
          <p:nvPr/>
        </p:nvSpPr>
        <p:spPr>
          <a:xfrm>
            <a:off x="809244" y="5475616"/>
            <a:ext cx="32104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기능이 탑재된 차세대 스마트펜으로, 더 스마트한 필기 경험을 제공합니다.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09244" y="5961163"/>
            <a:ext cx="267005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3"/>
          <p:cNvSpPr txBox="1"/>
          <p:nvPr/>
        </p:nvSpPr>
        <p:spPr>
          <a:xfrm>
            <a:off x="809244" y="5961163"/>
            <a:ext cx="3246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152144" y="5961163"/>
            <a:ext cx="466344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5"/>
          <p:cNvSpPr txBox="1"/>
          <p:nvPr/>
        </p:nvSpPr>
        <p:spPr>
          <a:xfrm>
            <a:off x="1152144" y="5961163"/>
            <a:ext cx="5239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차세대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1688897" y="5961163"/>
            <a:ext cx="295351" cy="247802"/>
          </a:xfrm>
          <a:prstGeom prst="roundRect">
            <a:avLst>
              <a:gd name="adj" fmla="val 113540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 txBox="1"/>
          <p:nvPr/>
        </p:nvSpPr>
        <p:spPr>
          <a:xfrm>
            <a:off x="1688897" y="5961163"/>
            <a:ext cx="3529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328922" y="4765305"/>
            <a:ext cx="3534156" cy="1552043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7464806" y="4788953"/>
            <a:ext cx="466344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 txBox="1"/>
          <p:nvPr/>
        </p:nvSpPr>
        <p:spPr>
          <a:xfrm>
            <a:off x="7464806" y="4788953"/>
            <a:ext cx="5239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</a:t>
            </a:r>
            <a:endParaRPr lang="en-US" sz="800" dirty="0"/>
          </a:p>
        </p:txBody>
      </p:sp>
      <p:sp>
        <p:nvSpPr>
          <p:cNvPr id="113" name="Text 111"/>
          <p:cNvSpPr txBox="1"/>
          <p:nvPr/>
        </p:nvSpPr>
        <p:spPr>
          <a:xfrm>
            <a:off x="4592676" y="4889359"/>
            <a:ext cx="127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네오스마트펜 R1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592676" y="5184711"/>
            <a:ext cx="7050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 txBox="1"/>
          <p:nvPr/>
        </p:nvSpPr>
        <p:spPr>
          <a:xfrm>
            <a:off x="4592676" y="5184711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endParaRPr lang="en-US" sz="900" dirty="0"/>
          </a:p>
        </p:txBody>
      </p:sp>
      <p:sp>
        <p:nvSpPr>
          <p:cNvPr id="117" name="Text 115"/>
          <p:cNvSpPr txBox="1"/>
          <p:nvPr/>
        </p:nvSpPr>
        <p:spPr>
          <a:xfrm>
            <a:off x="4592676" y="5499264"/>
            <a:ext cx="32104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 라인업으로, 고급스러운 디자인과 성능을 갖추었습니다.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592676" y="5984811"/>
            <a:ext cx="562356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Text 117"/>
          <p:cNvSpPr txBox="1"/>
          <p:nvPr/>
        </p:nvSpPr>
        <p:spPr>
          <a:xfrm>
            <a:off x="4592676" y="5984811"/>
            <a:ext cx="6199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5225441" y="5984811"/>
            <a:ext cx="657454" cy="247802"/>
          </a:xfrm>
          <a:prstGeom prst="roundRect">
            <a:avLst>
              <a:gd name="adj" fmla="val 113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 txBox="1"/>
          <p:nvPr/>
        </p:nvSpPr>
        <p:spPr>
          <a:xfrm>
            <a:off x="5225441" y="5984811"/>
            <a:ext cx="7150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고급디자인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5955132" y="5984811"/>
            <a:ext cx="304495" cy="247802"/>
          </a:xfrm>
          <a:prstGeom prst="roundRect">
            <a:avLst>
              <a:gd name="adj" fmla="val 113540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21"/>
          <p:cNvSpPr txBox="1"/>
          <p:nvPr/>
        </p:nvSpPr>
        <p:spPr>
          <a:xfrm>
            <a:off x="5955132" y="5984811"/>
            <a:ext cx="3621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R1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8052206" y="4765305"/>
            <a:ext cx="3534156" cy="1552043"/>
          </a:xfrm>
          <a:prstGeom prst="roundRect">
            <a:avLst>
              <a:gd name="adj" fmla="val 68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3"/>
          <p:cNvSpPr txBox="1"/>
          <p:nvPr/>
        </p:nvSpPr>
        <p:spPr>
          <a:xfrm>
            <a:off x="8251546" y="4865711"/>
            <a:ext cx="910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라인업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8251546" y="5161063"/>
            <a:ext cx="7050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 txBox="1"/>
          <p:nvPr/>
        </p:nvSpPr>
        <p:spPr>
          <a:xfrm>
            <a:off x="8251546" y="5161063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8개 제품</a:t>
            </a:r>
            <a:endParaRPr lang="en-US" sz="900" dirty="0"/>
          </a:p>
        </p:txBody>
      </p:sp>
      <p:sp>
        <p:nvSpPr>
          <p:cNvPr id="128" name="Text 126"/>
          <p:cNvSpPr txBox="1"/>
          <p:nvPr/>
        </p:nvSpPr>
        <p:spPr>
          <a:xfrm>
            <a:off x="8251546" y="5475616"/>
            <a:ext cx="32104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2010-2014: 초기 제품</a:t>
            </a:r>
            <a:endParaRPr lang="en-US" sz="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2019-2023: 제품 다각화</a:t>
            </a:r>
            <a:endParaRPr lang="en-US" sz="9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2024: AI 플랫폼 확장 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09905" y="5517679"/>
            <a:ext cx="152705" cy="15270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2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642823" y="5546939"/>
            <a:ext cx="85954" cy="95098"/>
          </a:xfrm>
          <a:prstGeom prst="rect">
            <a:avLst/>
          </a:prstGeom>
        </p:spPr>
      </p:pic>
      <p:pic>
        <p:nvPicPr>
          <p:cNvPr id="138" name="그림 137">
            <a:extLst>
              <a:ext uri="{FF2B5EF4-FFF2-40B4-BE49-F238E27FC236}">
                <a16:creationId xmlns:a16="http://schemas.microsoft.com/office/drawing/2014/main" id="{64BD2CBD-5628-A97F-FEF6-819A49FD4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09" y="61579"/>
            <a:ext cx="1608592" cy="619334"/>
          </a:xfrm>
          <a:prstGeom prst="rect">
            <a:avLst/>
          </a:prstGeom>
        </p:spPr>
      </p:pic>
      <p:sp>
        <p:nvSpPr>
          <p:cNvPr id="153" name="Shape 100">
            <a:extLst>
              <a:ext uri="{FF2B5EF4-FFF2-40B4-BE49-F238E27FC236}">
                <a16:creationId xmlns:a16="http://schemas.microsoft.com/office/drawing/2014/main" id="{702563B5-0DAD-F423-3613-910211B8C298}"/>
              </a:ext>
            </a:extLst>
          </p:cNvPr>
          <p:cNvSpPr/>
          <p:nvPr/>
        </p:nvSpPr>
        <p:spPr>
          <a:xfrm>
            <a:off x="0" y="6428792"/>
            <a:ext cx="12191695" cy="4292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01">
            <a:extLst>
              <a:ext uri="{FF2B5EF4-FFF2-40B4-BE49-F238E27FC236}">
                <a16:creationId xmlns:a16="http://schemas.microsoft.com/office/drawing/2014/main" id="{B7A70860-B163-69CA-20EC-AF5DD98E7E00}"/>
              </a:ext>
            </a:extLst>
          </p:cNvPr>
          <p:cNvSpPr/>
          <p:nvPr/>
        </p:nvSpPr>
        <p:spPr>
          <a:xfrm>
            <a:off x="305" y="6343790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02">
            <a:extLst>
              <a:ext uri="{FF2B5EF4-FFF2-40B4-BE49-F238E27FC236}">
                <a16:creationId xmlns:a16="http://schemas.microsoft.com/office/drawing/2014/main" id="{54AEAF76-B518-797F-90B5-B837803FFA86}"/>
              </a:ext>
            </a:extLst>
          </p:cNvPr>
          <p:cNvSpPr/>
          <p:nvPr/>
        </p:nvSpPr>
        <p:spPr>
          <a:xfrm>
            <a:off x="609905" y="6500470"/>
            <a:ext cx="152705" cy="15270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6" name="Image 19" descr="preencoded.png">
            <a:extLst>
              <a:ext uri="{FF2B5EF4-FFF2-40B4-BE49-F238E27FC236}">
                <a16:creationId xmlns:a16="http://schemas.microsoft.com/office/drawing/2014/main" id="{38A391D6-C9FF-7305-5A1C-D6CE7746EE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70" b="-870"/>
          <a:stretch/>
        </p:blipFill>
        <p:spPr>
          <a:xfrm>
            <a:off x="633679" y="6529730"/>
            <a:ext cx="105156" cy="95098"/>
          </a:xfrm>
          <a:prstGeom prst="rect">
            <a:avLst/>
          </a:prstGeom>
        </p:spPr>
      </p:pic>
      <p:sp>
        <p:nvSpPr>
          <p:cNvPr id="157" name="Text 103">
            <a:extLst>
              <a:ext uri="{FF2B5EF4-FFF2-40B4-BE49-F238E27FC236}">
                <a16:creationId xmlns:a16="http://schemas.microsoft.com/office/drawing/2014/main" id="{D02545CD-433C-BA13-0154-15EF1040D2B3}"/>
              </a:ext>
            </a:extLst>
          </p:cNvPr>
          <p:cNvSpPr txBox="1"/>
          <p:nvPr/>
        </p:nvSpPr>
        <p:spPr>
          <a:xfrm>
            <a:off x="838505" y="6486754"/>
            <a:ext cx="11603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8</a:t>
            </a:r>
            <a:r>
              <a:rPr lang="ko-KR" alt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 제품 라인업</a:t>
            </a:r>
            <a:endParaRPr lang="en-US" sz="900" dirty="0"/>
          </a:p>
        </p:txBody>
      </p:sp>
      <p:sp>
        <p:nvSpPr>
          <p:cNvPr id="158" name="Shape 104">
            <a:extLst>
              <a:ext uri="{FF2B5EF4-FFF2-40B4-BE49-F238E27FC236}">
                <a16:creationId xmlns:a16="http://schemas.microsoft.com/office/drawing/2014/main" id="{5A008EF6-579E-53F2-9616-9C775514C02F}"/>
              </a:ext>
            </a:extLst>
          </p:cNvPr>
          <p:cNvSpPr/>
          <p:nvPr/>
        </p:nvSpPr>
        <p:spPr>
          <a:xfrm>
            <a:off x="2006194" y="6500470"/>
            <a:ext cx="152705" cy="15270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9" name="Image 20" descr="preencoded.png">
            <a:extLst>
              <a:ext uri="{FF2B5EF4-FFF2-40B4-BE49-F238E27FC236}">
                <a16:creationId xmlns:a16="http://schemas.microsoft.com/office/drawing/2014/main" id="{F78A0461-9443-465B-D652-7A4ED9496B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2039112" y="6529730"/>
            <a:ext cx="85954" cy="95098"/>
          </a:xfrm>
          <a:prstGeom prst="rect">
            <a:avLst/>
          </a:prstGeom>
        </p:spPr>
      </p:pic>
      <p:sp>
        <p:nvSpPr>
          <p:cNvPr id="160" name="Text 105">
            <a:extLst>
              <a:ext uri="{FF2B5EF4-FFF2-40B4-BE49-F238E27FC236}">
                <a16:creationId xmlns:a16="http://schemas.microsoft.com/office/drawing/2014/main" id="{801C473A-8EB7-5725-C193-570411E2A484}"/>
              </a:ext>
            </a:extLst>
          </p:cNvPr>
          <p:cNvSpPr txBox="1"/>
          <p:nvPr/>
        </p:nvSpPr>
        <p:spPr>
          <a:xfrm>
            <a:off x="2234794" y="6486754"/>
            <a:ext cx="7589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2013-2024</a:t>
            </a:r>
            <a:endParaRPr lang="en-US" sz="900" dirty="0"/>
          </a:p>
        </p:txBody>
      </p:sp>
      <p:sp>
        <p:nvSpPr>
          <p:cNvPr id="161" name="Text 51">
            <a:extLst>
              <a:ext uri="{FF2B5EF4-FFF2-40B4-BE49-F238E27FC236}">
                <a16:creationId xmlns:a16="http://schemas.microsoft.com/office/drawing/2014/main" id="{19719AAF-CE23-0EAE-6C2C-E8F96648C482}"/>
              </a:ext>
            </a:extLst>
          </p:cNvPr>
          <p:cNvSpPr txBox="1"/>
          <p:nvPr/>
        </p:nvSpPr>
        <p:spPr>
          <a:xfrm>
            <a:off x="10126980" y="6495898"/>
            <a:ext cx="1734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NeoLAB</a:t>
            </a:r>
            <a:r>
              <a:rPr lang="ko-KR" alt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Convergence | 2026</a:t>
            </a:r>
            <a:endParaRPr lang="en-US" alt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09905" y="952805"/>
            <a:ext cx="111639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수상 및 선정 실적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362456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2013년부터 2024년까지 획득한 주요 수상 및 </a:t>
            </a:r>
            <a:r>
              <a:rPr lang="en-US" sz="1000" dirty="0" err="1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</a:t>
            </a:r>
            <a:r>
              <a:rPr lang="ko-KR" alt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905" y="1781251"/>
            <a:ext cx="2628900" cy="1399946"/>
          </a:xfrm>
          <a:prstGeom prst="roundRect">
            <a:avLst>
              <a:gd name="adj" fmla="val 106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873045" y="1781251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2873045" y="1781251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71754" y="1943100"/>
            <a:ext cx="122255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대한민국 기술대상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1754" y="2183587"/>
            <a:ext cx="4764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43407" y="2183587"/>
            <a:ext cx="5340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7246" y="1943100"/>
            <a:ext cx="190195" cy="19019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 t="-870" b="-870"/>
          <a:stretch/>
        </p:blipFill>
        <p:spPr>
          <a:xfrm>
            <a:off x="2700223" y="1990649"/>
            <a:ext cx="105156" cy="9509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71754" y="2497226"/>
            <a:ext cx="248991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산업통상자원부 장관상 수상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t="-1958" b="-1958"/>
          <a:stretch/>
        </p:blipFill>
        <p:spPr>
          <a:xfrm>
            <a:off x="771754" y="2757830"/>
            <a:ext cx="75895" cy="10515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86054" y="2734056"/>
            <a:ext cx="7589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산업통상자원부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3390595" y="1781251"/>
            <a:ext cx="2628900" cy="1399946"/>
          </a:xfrm>
          <a:prstGeom prst="roundRect">
            <a:avLst>
              <a:gd name="adj" fmla="val 106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5653735" y="1781251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5653735" y="1781251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3552444" y="1943100"/>
            <a:ext cx="14145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 DESIGN AWARD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552444" y="2183587"/>
            <a:ext cx="7050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3524098" y="2183587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2014-2016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5438851" y="1943100"/>
            <a:ext cx="190195" cy="19019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 l="-3205" r="-3205"/>
          <a:stretch/>
        </p:blipFill>
        <p:spPr>
          <a:xfrm>
            <a:off x="5495544" y="1990649"/>
            <a:ext cx="75895" cy="9509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3552444" y="2497226"/>
            <a:ext cx="248991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 연속 수상 (디자인 분야)</a:t>
            </a:r>
            <a:endParaRPr lang="en-US" sz="9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552444" y="2757830"/>
            <a:ext cx="105156" cy="1051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3696005" y="273405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 International Forum Design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6172200" y="1781251"/>
            <a:ext cx="2628900" cy="1399946"/>
          </a:xfrm>
          <a:prstGeom prst="roundRect">
            <a:avLst>
              <a:gd name="adj" fmla="val 106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8435340" y="1781251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8435340" y="1781251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6334049" y="1943100"/>
            <a:ext cx="129661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N2 Kickstarter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334049" y="2183587"/>
            <a:ext cx="4764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 txBox="1"/>
          <p:nvPr/>
        </p:nvSpPr>
        <p:spPr>
          <a:xfrm>
            <a:off x="6305702" y="2183587"/>
            <a:ext cx="5340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8220456" y="1943100"/>
            <a:ext cx="190195" cy="19019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8272577" y="1990649"/>
            <a:ext cx="85954" cy="95098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334049" y="2497226"/>
            <a:ext cx="23975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36만불 펀딩 (기술 분야 1위)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6372454" y="2734056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Kickstarter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8953805" y="1781251"/>
            <a:ext cx="2628900" cy="1399946"/>
          </a:xfrm>
          <a:prstGeom prst="roundRect">
            <a:avLst>
              <a:gd name="adj" fmla="val 106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11216945" y="1781251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 txBox="1"/>
          <p:nvPr/>
        </p:nvSpPr>
        <p:spPr>
          <a:xfrm>
            <a:off x="11216945" y="1781251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9115654" y="1943100"/>
            <a:ext cx="571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장영실상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9115654" y="2183587"/>
            <a:ext cx="4764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2"/>
          <p:cNvSpPr txBox="1"/>
          <p:nvPr/>
        </p:nvSpPr>
        <p:spPr>
          <a:xfrm>
            <a:off x="9087307" y="2183587"/>
            <a:ext cx="5340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11001146" y="1943100"/>
            <a:ext cx="190195" cy="19019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048695" y="1990649"/>
            <a:ext cx="95098" cy="95098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9115654" y="2497226"/>
            <a:ext cx="248991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미래창조과학부 장영실상</a:t>
            </a:r>
            <a:endParaRPr lang="en-US" sz="900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115654" y="2757830"/>
            <a:ext cx="105156" cy="10515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9258300" y="2734056"/>
            <a:ext cx="7589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미래창조과학부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609905" y="3251352"/>
            <a:ext cx="2628900" cy="1399946"/>
          </a:xfrm>
          <a:prstGeom prst="roundRect">
            <a:avLst>
              <a:gd name="adj" fmla="val 106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7"/>
          <p:cNvSpPr/>
          <p:nvPr/>
        </p:nvSpPr>
        <p:spPr>
          <a:xfrm>
            <a:off x="2873045" y="3251352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8"/>
          <p:cNvSpPr txBox="1"/>
          <p:nvPr/>
        </p:nvSpPr>
        <p:spPr>
          <a:xfrm>
            <a:off x="2873045" y="3251352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</a:t>
            </a:r>
            <a:endParaRPr lang="en-US" sz="800" dirty="0"/>
          </a:p>
        </p:txBody>
      </p:sp>
      <p:sp>
        <p:nvSpPr>
          <p:cNvPr id="58" name="Text 49"/>
          <p:cNvSpPr txBox="1"/>
          <p:nvPr/>
        </p:nvSpPr>
        <p:spPr>
          <a:xfrm>
            <a:off x="771754" y="3413201"/>
            <a:ext cx="10277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1천만불 수출탑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771754" y="3652774"/>
            <a:ext cx="4764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1"/>
          <p:cNvSpPr txBox="1"/>
          <p:nvPr/>
        </p:nvSpPr>
        <p:spPr>
          <a:xfrm>
            <a:off x="743407" y="3652774"/>
            <a:ext cx="5340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2018</a:t>
            </a:r>
            <a:endParaRPr lang="en-US" sz="900" dirty="0"/>
          </a:p>
        </p:txBody>
      </p:sp>
      <p:sp>
        <p:nvSpPr>
          <p:cNvPr id="61" name="Shape 52"/>
          <p:cNvSpPr/>
          <p:nvPr/>
        </p:nvSpPr>
        <p:spPr>
          <a:xfrm>
            <a:off x="2657246" y="3413201"/>
            <a:ext cx="190195" cy="19019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7" descr="preencoded.png"/>
          <p:cNvPicPr>
            <a:picLocks noChangeAspect="1"/>
          </p:cNvPicPr>
          <p:nvPr/>
        </p:nvPicPr>
        <p:blipFill>
          <a:blip r:embed="rId10"/>
          <a:srcRect l="-1923" r="-1923"/>
          <a:stretch/>
        </p:blipFill>
        <p:spPr>
          <a:xfrm>
            <a:off x="2691079" y="3460750"/>
            <a:ext cx="123444" cy="95098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771754" y="3967328"/>
            <a:ext cx="248991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수출 성과 인정</a:t>
            </a:r>
            <a:endParaRPr lang="en-US" sz="900" dirty="0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1"/>
          <a:srcRect t="-1750" b="-1750"/>
          <a:stretch/>
        </p:blipFill>
        <p:spPr>
          <a:xfrm>
            <a:off x="771754" y="4227932"/>
            <a:ext cx="114300" cy="105156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923544" y="4204157"/>
            <a:ext cx="657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한국무역협회</a:t>
            </a:r>
            <a:endParaRPr lang="en-US" sz="800" dirty="0"/>
          </a:p>
        </p:txBody>
      </p:sp>
      <p:sp>
        <p:nvSpPr>
          <p:cNvPr id="66" name="Shape 55"/>
          <p:cNvSpPr/>
          <p:nvPr/>
        </p:nvSpPr>
        <p:spPr>
          <a:xfrm>
            <a:off x="3390595" y="3251352"/>
            <a:ext cx="2628900" cy="1399946"/>
          </a:xfrm>
          <a:prstGeom prst="roundRect">
            <a:avLst>
              <a:gd name="adj" fmla="val 106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56"/>
          <p:cNvSpPr/>
          <p:nvPr/>
        </p:nvSpPr>
        <p:spPr>
          <a:xfrm>
            <a:off x="5653735" y="3251352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7"/>
          <p:cNvSpPr txBox="1"/>
          <p:nvPr/>
        </p:nvSpPr>
        <p:spPr>
          <a:xfrm>
            <a:off x="5653735" y="3251352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</a:t>
            </a:r>
            <a:endParaRPr lang="en-US" sz="800" dirty="0"/>
          </a:p>
        </p:txBody>
      </p:sp>
      <p:sp>
        <p:nvSpPr>
          <p:cNvPr id="69" name="Text 58"/>
          <p:cNvSpPr txBox="1"/>
          <p:nvPr/>
        </p:nvSpPr>
        <p:spPr>
          <a:xfrm>
            <a:off x="3552444" y="3413201"/>
            <a:ext cx="122255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기술사업화 유공자</a:t>
            </a:r>
            <a:endParaRPr lang="en-US" sz="1000" dirty="0"/>
          </a:p>
        </p:txBody>
      </p:sp>
      <p:sp>
        <p:nvSpPr>
          <p:cNvPr id="70" name="Shape 59"/>
          <p:cNvSpPr/>
          <p:nvPr/>
        </p:nvSpPr>
        <p:spPr>
          <a:xfrm>
            <a:off x="3552444" y="3652774"/>
            <a:ext cx="4764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0"/>
          <p:cNvSpPr txBox="1"/>
          <p:nvPr/>
        </p:nvSpPr>
        <p:spPr>
          <a:xfrm>
            <a:off x="3524098" y="3652774"/>
            <a:ext cx="5340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2018</a:t>
            </a:r>
            <a:endParaRPr lang="en-US" sz="900" dirty="0"/>
          </a:p>
        </p:txBody>
      </p:sp>
      <p:sp>
        <p:nvSpPr>
          <p:cNvPr id="72" name="Shape 61"/>
          <p:cNvSpPr/>
          <p:nvPr/>
        </p:nvSpPr>
        <p:spPr>
          <a:xfrm>
            <a:off x="5438851" y="3413201"/>
            <a:ext cx="190195" cy="19019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9" descr="preencoded.png"/>
          <p:cNvPicPr>
            <a:picLocks noChangeAspect="1"/>
          </p:cNvPicPr>
          <p:nvPr/>
        </p:nvPicPr>
        <p:blipFill>
          <a:blip r:embed="rId12"/>
          <a:srcRect t="-870" b="-870"/>
          <a:stretch/>
        </p:blipFill>
        <p:spPr>
          <a:xfrm>
            <a:off x="5481828" y="3460750"/>
            <a:ext cx="105156" cy="95098"/>
          </a:xfrm>
          <a:prstGeom prst="rect">
            <a:avLst/>
          </a:prstGeom>
        </p:spPr>
      </p:pic>
      <p:sp>
        <p:nvSpPr>
          <p:cNvPr id="74" name="Text 62"/>
          <p:cNvSpPr txBox="1"/>
          <p:nvPr/>
        </p:nvSpPr>
        <p:spPr>
          <a:xfrm>
            <a:off x="3552444" y="3967328"/>
            <a:ext cx="248991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국무총리상 수상</a:t>
            </a:r>
            <a:endParaRPr lang="en-US" sz="900" dirty="0"/>
          </a:p>
        </p:txBody>
      </p:sp>
      <p:pic>
        <p:nvPicPr>
          <p:cNvPr id="75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52444" y="4227932"/>
            <a:ext cx="105156" cy="105156"/>
          </a:xfrm>
          <a:prstGeom prst="rect">
            <a:avLst/>
          </a:prstGeom>
        </p:spPr>
      </p:pic>
      <p:sp>
        <p:nvSpPr>
          <p:cNvPr id="76" name="Text 63"/>
          <p:cNvSpPr txBox="1"/>
          <p:nvPr/>
        </p:nvSpPr>
        <p:spPr>
          <a:xfrm>
            <a:off x="3696005" y="4204157"/>
            <a:ext cx="71597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대한민국 정부</a:t>
            </a:r>
            <a:endParaRPr lang="en-US" sz="800" dirty="0"/>
          </a:p>
        </p:txBody>
      </p:sp>
      <p:sp>
        <p:nvSpPr>
          <p:cNvPr id="77" name="Shape 64"/>
          <p:cNvSpPr/>
          <p:nvPr/>
        </p:nvSpPr>
        <p:spPr>
          <a:xfrm>
            <a:off x="6172200" y="3251352"/>
            <a:ext cx="2628900" cy="1399946"/>
          </a:xfrm>
          <a:prstGeom prst="roundRect">
            <a:avLst>
              <a:gd name="adj" fmla="val 106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65"/>
          <p:cNvSpPr/>
          <p:nvPr/>
        </p:nvSpPr>
        <p:spPr>
          <a:xfrm>
            <a:off x="8435340" y="3251352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66"/>
          <p:cNvSpPr txBox="1"/>
          <p:nvPr/>
        </p:nvSpPr>
        <p:spPr>
          <a:xfrm>
            <a:off x="8435340" y="3251352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</a:t>
            </a:r>
            <a:endParaRPr lang="en-US" sz="800" dirty="0"/>
          </a:p>
        </p:txBody>
      </p:sp>
      <p:sp>
        <p:nvSpPr>
          <p:cNvPr id="80" name="Text 67"/>
          <p:cNvSpPr txBox="1"/>
          <p:nvPr/>
        </p:nvSpPr>
        <p:spPr>
          <a:xfrm>
            <a:off x="6334049" y="3413201"/>
            <a:ext cx="9747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10대 유망기업</a:t>
            </a:r>
            <a:endParaRPr lang="en-US" sz="1000" dirty="0"/>
          </a:p>
        </p:txBody>
      </p:sp>
      <p:sp>
        <p:nvSpPr>
          <p:cNvPr id="81" name="Shape 68"/>
          <p:cNvSpPr/>
          <p:nvPr/>
        </p:nvSpPr>
        <p:spPr>
          <a:xfrm>
            <a:off x="6334049" y="3652774"/>
            <a:ext cx="4764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69"/>
          <p:cNvSpPr txBox="1"/>
          <p:nvPr/>
        </p:nvSpPr>
        <p:spPr>
          <a:xfrm>
            <a:off x="6305702" y="3652774"/>
            <a:ext cx="5340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</a:t>
            </a:r>
            <a:endParaRPr lang="en-US" sz="900" dirty="0"/>
          </a:p>
        </p:txBody>
      </p:sp>
      <p:sp>
        <p:nvSpPr>
          <p:cNvPr id="83" name="Shape 70"/>
          <p:cNvSpPr/>
          <p:nvPr/>
        </p:nvSpPr>
        <p:spPr>
          <a:xfrm>
            <a:off x="8220456" y="3413201"/>
            <a:ext cx="190195" cy="19019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4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268005" y="3460750"/>
            <a:ext cx="95098" cy="95098"/>
          </a:xfrm>
          <a:prstGeom prst="rect">
            <a:avLst/>
          </a:prstGeom>
        </p:spPr>
      </p:pic>
      <p:sp>
        <p:nvSpPr>
          <p:cNvPr id="85" name="Text 71"/>
          <p:cNvSpPr txBox="1"/>
          <p:nvPr/>
        </p:nvSpPr>
        <p:spPr>
          <a:xfrm>
            <a:off x="6334049" y="3967328"/>
            <a:ext cx="248991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과학기술통신부 선정</a:t>
            </a:r>
            <a:endParaRPr lang="en-US" sz="900" dirty="0"/>
          </a:p>
        </p:txBody>
      </p:sp>
      <p:pic>
        <p:nvPicPr>
          <p:cNvPr id="86" name="Image 12" descr="preencoded.png"/>
          <p:cNvPicPr>
            <a:picLocks noChangeAspect="1"/>
          </p:cNvPicPr>
          <p:nvPr/>
        </p:nvPicPr>
        <p:blipFill>
          <a:blip r:embed="rId4"/>
          <a:srcRect t="-1958" b="-1958"/>
          <a:stretch/>
        </p:blipFill>
        <p:spPr>
          <a:xfrm>
            <a:off x="6334049" y="4227932"/>
            <a:ext cx="75895" cy="105156"/>
          </a:xfrm>
          <a:prstGeom prst="rect">
            <a:avLst/>
          </a:prstGeom>
        </p:spPr>
      </p:pic>
      <p:sp>
        <p:nvSpPr>
          <p:cNvPr id="87" name="Text 72"/>
          <p:cNvSpPr txBox="1"/>
          <p:nvPr/>
        </p:nvSpPr>
        <p:spPr>
          <a:xfrm>
            <a:off x="6448349" y="4204157"/>
            <a:ext cx="7589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과학기술통신부</a:t>
            </a:r>
            <a:endParaRPr lang="en-US" sz="800" dirty="0"/>
          </a:p>
        </p:txBody>
      </p:sp>
      <p:sp>
        <p:nvSpPr>
          <p:cNvPr id="88" name="Shape 73"/>
          <p:cNvSpPr/>
          <p:nvPr/>
        </p:nvSpPr>
        <p:spPr>
          <a:xfrm>
            <a:off x="8953805" y="3251352"/>
            <a:ext cx="2628900" cy="1399946"/>
          </a:xfrm>
          <a:prstGeom prst="roundRect">
            <a:avLst>
              <a:gd name="adj" fmla="val 106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74"/>
          <p:cNvSpPr/>
          <p:nvPr/>
        </p:nvSpPr>
        <p:spPr>
          <a:xfrm>
            <a:off x="11216945" y="3251352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75"/>
          <p:cNvSpPr txBox="1"/>
          <p:nvPr/>
        </p:nvSpPr>
        <p:spPr>
          <a:xfrm>
            <a:off x="11216945" y="3251352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</a:t>
            </a:r>
            <a:endParaRPr lang="en-US" sz="800" dirty="0"/>
          </a:p>
        </p:txBody>
      </p:sp>
      <p:sp>
        <p:nvSpPr>
          <p:cNvPr id="91" name="Text 76"/>
          <p:cNvSpPr txBox="1"/>
          <p:nvPr/>
        </p:nvSpPr>
        <p:spPr>
          <a:xfrm>
            <a:off x="9115654" y="3413201"/>
            <a:ext cx="79735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유니콘</a:t>
            </a:r>
            <a:endParaRPr lang="en-US" sz="1000" dirty="0"/>
          </a:p>
        </p:txBody>
      </p:sp>
      <p:sp>
        <p:nvSpPr>
          <p:cNvPr id="92" name="Shape 77"/>
          <p:cNvSpPr/>
          <p:nvPr/>
        </p:nvSpPr>
        <p:spPr>
          <a:xfrm>
            <a:off x="9115654" y="3652774"/>
            <a:ext cx="4764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78"/>
          <p:cNvSpPr txBox="1"/>
          <p:nvPr/>
        </p:nvSpPr>
        <p:spPr>
          <a:xfrm>
            <a:off x="9087307" y="3652774"/>
            <a:ext cx="5340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</a:t>
            </a:r>
            <a:endParaRPr lang="en-US" sz="900" dirty="0"/>
          </a:p>
        </p:txBody>
      </p:sp>
      <p:sp>
        <p:nvSpPr>
          <p:cNvPr id="94" name="Shape 79"/>
          <p:cNvSpPr/>
          <p:nvPr/>
        </p:nvSpPr>
        <p:spPr>
          <a:xfrm>
            <a:off x="11001146" y="3413201"/>
            <a:ext cx="190195" cy="19019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5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1048695" y="3460750"/>
            <a:ext cx="95098" cy="95098"/>
          </a:xfrm>
          <a:prstGeom prst="rect">
            <a:avLst/>
          </a:prstGeom>
        </p:spPr>
      </p:pic>
      <p:sp>
        <p:nvSpPr>
          <p:cNvPr id="96" name="Text 80"/>
          <p:cNvSpPr txBox="1"/>
          <p:nvPr/>
        </p:nvSpPr>
        <p:spPr>
          <a:xfrm>
            <a:off x="9115654" y="3967328"/>
            <a:ext cx="248991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유니콘 기업 선정</a:t>
            </a:r>
            <a:endParaRPr lang="en-US" sz="900" dirty="0"/>
          </a:p>
        </p:txBody>
      </p:sp>
      <p:pic>
        <p:nvPicPr>
          <p:cNvPr id="97" name="Image 14" descr="preencoded.png"/>
          <p:cNvPicPr>
            <a:picLocks noChangeAspect="1"/>
          </p:cNvPicPr>
          <p:nvPr/>
        </p:nvPicPr>
        <p:blipFill>
          <a:blip r:embed="rId4"/>
          <a:srcRect t="-1958" b="-1958"/>
          <a:stretch/>
        </p:blipFill>
        <p:spPr>
          <a:xfrm>
            <a:off x="9115654" y="4227932"/>
            <a:ext cx="75895" cy="105156"/>
          </a:xfrm>
          <a:prstGeom prst="rect">
            <a:avLst/>
          </a:prstGeom>
        </p:spPr>
      </p:pic>
      <p:sp>
        <p:nvSpPr>
          <p:cNvPr id="98" name="Text 81"/>
          <p:cNvSpPr txBox="1"/>
          <p:nvPr/>
        </p:nvSpPr>
        <p:spPr>
          <a:xfrm>
            <a:off x="9229954" y="4204157"/>
            <a:ext cx="7589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중소벤처기업부</a:t>
            </a:r>
            <a:endParaRPr lang="en-US" sz="800" dirty="0"/>
          </a:p>
        </p:txBody>
      </p:sp>
      <p:sp>
        <p:nvSpPr>
          <p:cNvPr id="99" name="Shape 82"/>
          <p:cNvSpPr/>
          <p:nvPr/>
        </p:nvSpPr>
        <p:spPr>
          <a:xfrm>
            <a:off x="609905" y="4721453"/>
            <a:ext cx="2628900" cy="1399946"/>
          </a:xfrm>
          <a:prstGeom prst="roundRect">
            <a:avLst>
              <a:gd name="adj" fmla="val 106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83"/>
          <p:cNvSpPr/>
          <p:nvPr/>
        </p:nvSpPr>
        <p:spPr>
          <a:xfrm>
            <a:off x="2873045" y="4721453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84"/>
          <p:cNvSpPr txBox="1"/>
          <p:nvPr/>
        </p:nvSpPr>
        <p:spPr>
          <a:xfrm>
            <a:off x="2873045" y="4721453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</a:t>
            </a:r>
            <a:endParaRPr lang="en-US" sz="800" dirty="0"/>
          </a:p>
        </p:txBody>
      </p:sp>
      <p:sp>
        <p:nvSpPr>
          <p:cNvPr id="102" name="Text 85"/>
          <p:cNvSpPr txBox="1"/>
          <p:nvPr/>
        </p:nvSpPr>
        <p:spPr>
          <a:xfrm>
            <a:off x="771754" y="4883301"/>
            <a:ext cx="106893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혁신기업 1000</a:t>
            </a:r>
            <a:endParaRPr lang="en-US" sz="1000" dirty="0"/>
          </a:p>
        </p:txBody>
      </p:sp>
      <p:sp>
        <p:nvSpPr>
          <p:cNvPr id="103" name="Shape 86"/>
          <p:cNvSpPr/>
          <p:nvPr/>
        </p:nvSpPr>
        <p:spPr>
          <a:xfrm>
            <a:off x="771754" y="5122874"/>
            <a:ext cx="4764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87"/>
          <p:cNvSpPr txBox="1"/>
          <p:nvPr/>
        </p:nvSpPr>
        <p:spPr>
          <a:xfrm>
            <a:off x="743407" y="5122874"/>
            <a:ext cx="5340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</a:t>
            </a:r>
            <a:endParaRPr lang="en-US" sz="900" dirty="0"/>
          </a:p>
        </p:txBody>
      </p:sp>
      <p:sp>
        <p:nvSpPr>
          <p:cNvPr id="105" name="Shape 88"/>
          <p:cNvSpPr/>
          <p:nvPr/>
        </p:nvSpPr>
        <p:spPr>
          <a:xfrm>
            <a:off x="2657246" y="4883301"/>
            <a:ext cx="190195" cy="19019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6" name="Image 15" descr="preencoded.png"/>
          <p:cNvPicPr>
            <a:picLocks noChangeAspect="1"/>
          </p:cNvPicPr>
          <p:nvPr/>
        </p:nvPicPr>
        <p:blipFill>
          <a:blip r:embed="rId15"/>
          <a:srcRect l="-3205" r="-3205"/>
          <a:stretch/>
        </p:blipFill>
        <p:spPr>
          <a:xfrm>
            <a:off x="2714854" y="4930850"/>
            <a:ext cx="75895" cy="95098"/>
          </a:xfrm>
          <a:prstGeom prst="rect">
            <a:avLst/>
          </a:prstGeom>
        </p:spPr>
      </p:pic>
      <p:sp>
        <p:nvSpPr>
          <p:cNvPr id="107" name="Text 89"/>
          <p:cNvSpPr txBox="1"/>
          <p:nvPr/>
        </p:nvSpPr>
        <p:spPr>
          <a:xfrm>
            <a:off x="771754" y="5437428"/>
            <a:ext cx="248991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혁신기업 국가대표 1000 선정</a:t>
            </a:r>
            <a:endParaRPr lang="en-US" sz="900" dirty="0"/>
          </a:p>
        </p:txBody>
      </p:sp>
      <p:pic>
        <p:nvPicPr>
          <p:cNvPr id="108" name="Image 1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1754" y="5697117"/>
            <a:ext cx="105156" cy="105156"/>
          </a:xfrm>
          <a:prstGeom prst="rect">
            <a:avLst/>
          </a:prstGeom>
        </p:spPr>
      </p:pic>
      <p:sp>
        <p:nvSpPr>
          <p:cNvPr id="109" name="Text 90"/>
          <p:cNvSpPr txBox="1"/>
          <p:nvPr/>
        </p:nvSpPr>
        <p:spPr>
          <a:xfrm>
            <a:off x="914400" y="5673343"/>
            <a:ext cx="7589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중소벤처기업부</a:t>
            </a:r>
            <a:endParaRPr lang="en-US" sz="800" dirty="0"/>
          </a:p>
        </p:txBody>
      </p:sp>
      <p:sp>
        <p:nvSpPr>
          <p:cNvPr id="110" name="Shape 91"/>
          <p:cNvSpPr/>
          <p:nvPr/>
        </p:nvSpPr>
        <p:spPr>
          <a:xfrm>
            <a:off x="3390595" y="4721453"/>
            <a:ext cx="2628900" cy="1399946"/>
          </a:xfrm>
          <a:prstGeom prst="roundRect">
            <a:avLst>
              <a:gd name="adj" fmla="val 106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92"/>
          <p:cNvSpPr/>
          <p:nvPr/>
        </p:nvSpPr>
        <p:spPr>
          <a:xfrm>
            <a:off x="5653735" y="4721453"/>
            <a:ext cx="371246" cy="200254"/>
          </a:xfrm>
          <a:prstGeom prst="roundRect">
            <a:avLst>
              <a:gd name="adj" fmla="val 456620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93"/>
          <p:cNvSpPr txBox="1"/>
          <p:nvPr/>
        </p:nvSpPr>
        <p:spPr>
          <a:xfrm>
            <a:off x="5653735" y="4721453"/>
            <a:ext cx="42885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</a:t>
            </a:r>
            <a:endParaRPr lang="en-US" sz="800" dirty="0"/>
          </a:p>
        </p:txBody>
      </p:sp>
      <p:sp>
        <p:nvSpPr>
          <p:cNvPr id="113" name="Text 94"/>
          <p:cNvSpPr txBox="1"/>
          <p:nvPr/>
        </p:nvSpPr>
        <p:spPr>
          <a:xfrm>
            <a:off x="3552444" y="4883301"/>
            <a:ext cx="571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강소기업</a:t>
            </a:r>
            <a:endParaRPr lang="en-US" sz="1000" dirty="0"/>
          </a:p>
        </p:txBody>
      </p:sp>
      <p:sp>
        <p:nvSpPr>
          <p:cNvPr id="114" name="Shape 95"/>
          <p:cNvSpPr/>
          <p:nvPr/>
        </p:nvSpPr>
        <p:spPr>
          <a:xfrm>
            <a:off x="3552444" y="5122874"/>
            <a:ext cx="476402" cy="200254"/>
          </a:xfrm>
          <a:prstGeom prst="roundRect">
            <a:avLst>
              <a:gd name="adj" fmla="val 17395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96"/>
          <p:cNvSpPr txBox="1"/>
          <p:nvPr/>
        </p:nvSpPr>
        <p:spPr>
          <a:xfrm>
            <a:off x="3524098" y="5122874"/>
            <a:ext cx="5340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endParaRPr lang="en-US" sz="900" dirty="0"/>
          </a:p>
        </p:txBody>
      </p:sp>
      <p:sp>
        <p:nvSpPr>
          <p:cNvPr id="116" name="Shape 97"/>
          <p:cNvSpPr/>
          <p:nvPr/>
        </p:nvSpPr>
        <p:spPr>
          <a:xfrm>
            <a:off x="5438851" y="4883301"/>
            <a:ext cx="190195" cy="19019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7" name="Image 17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486400" y="4930850"/>
            <a:ext cx="95098" cy="95098"/>
          </a:xfrm>
          <a:prstGeom prst="rect">
            <a:avLst/>
          </a:prstGeom>
        </p:spPr>
      </p:pic>
      <p:sp>
        <p:nvSpPr>
          <p:cNvPr id="118" name="Text 98"/>
          <p:cNvSpPr txBox="1"/>
          <p:nvPr/>
        </p:nvSpPr>
        <p:spPr>
          <a:xfrm>
            <a:off x="3552444" y="5437428"/>
            <a:ext cx="248991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강소기업 선정</a:t>
            </a:r>
            <a:endParaRPr lang="en-US" sz="900" dirty="0"/>
          </a:p>
        </p:txBody>
      </p:sp>
      <p:pic>
        <p:nvPicPr>
          <p:cNvPr id="119" name="Image 18" descr="preencoded.png"/>
          <p:cNvPicPr>
            <a:picLocks noChangeAspect="1"/>
          </p:cNvPicPr>
          <p:nvPr/>
        </p:nvPicPr>
        <p:blipFill>
          <a:blip r:embed="rId17"/>
          <a:srcRect l="-783" r="-783"/>
          <a:stretch/>
        </p:blipFill>
        <p:spPr>
          <a:xfrm>
            <a:off x="3552444" y="5697117"/>
            <a:ext cx="133502" cy="105156"/>
          </a:xfrm>
          <a:prstGeom prst="rect">
            <a:avLst/>
          </a:prstGeom>
        </p:spPr>
      </p:pic>
      <p:sp>
        <p:nvSpPr>
          <p:cNvPr id="120" name="Text 99"/>
          <p:cNvSpPr txBox="1"/>
          <p:nvPr/>
        </p:nvSpPr>
        <p:spPr>
          <a:xfrm>
            <a:off x="3724351" y="5673343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</a:t>
            </a:r>
            <a:endParaRPr lang="en-US" sz="800" dirty="0"/>
          </a:p>
        </p:txBody>
      </p:sp>
      <p:sp>
        <p:nvSpPr>
          <p:cNvPr id="121" name="Shape 100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01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02"/>
          <p:cNvSpPr/>
          <p:nvPr/>
        </p:nvSpPr>
        <p:spPr>
          <a:xfrm>
            <a:off x="609905" y="6500470"/>
            <a:ext cx="152705" cy="15270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4" name="Image 19" descr="preencoded.png"/>
          <p:cNvPicPr>
            <a:picLocks noChangeAspect="1"/>
          </p:cNvPicPr>
          <p:nvPr/>
        </p:nvPicPr>
        <p:blipFill>
          <a:blip r:embed="rId3"/>
          <a:srcRect t="-870" b="-870"/>
          <a:stretch/>
        </p:blipFill>
        <p:spPr>
          <a:xfrm>
            <a:off x="633679" y="6529730"/>
            <a:ext cx="105156" cy="95098"/>
          </a:xfrm>
          <a:prstGeom prst="rect">
            <a:avLst/>
          </a:prstGeom>
        </p:spPr>
      </p:pic>
      <p:sp>
        <p:nvSpPr>
          <p:cNvPr id="125" name="Text 103"/>
          <p:cNvSpPr txBox="1"/>
          <p:nvPr/>
        </p:nvSpPr>
        <p:spPr>
          <a:xfrm>
            <a:off x="838505" y="6486754"/>
            <a:ext cx="11603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11개 수상/선정</a:t>
            </a:r>
            <a:endParaRPr lang="en-US" sz="900" dirty="0"/>
          </a:p>
        </p:txBody>
      </p:sp>
      <p:sp>
        <p:nvSpPr>
          <p:cNvPr id="126" name="Shape 104"/>
          <p:cNvSpPr/>
          <p:nvPr/>
        </p:nvSpPr>
        <p:spPr>
          <a:xfrm>
            <a:off x="2006194" y="6500470"/>
            <a:ext cx="152705" cy="15270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7" name="Image 20" descr="preencoded.png"/>
          <p:cNvPicPr>
            <a:picLocks noChangeAspect="1"/>
          </p:cNvPicPr>
          <p:nvPr/>
        </p:nvPicPr>
        <p:blipFill>
          <a:blip r:embed="rId18"/>
          <a:srcRect l="-1648" r="-1648"/>
          <a:stretch/>
        </p:blipFill>
        <p:spPr>
          <a:xfrm>
            <a:off x="2039112" y="6529730"/>
            <a:ext cx="85954" cy="95098"/>
          </a:xfrm>
          <a:prstGeom prst="rect">
            <a:avLst/>
          </a:prstGeom>
        </p:spPr>
      </p:pic>
      <p:sp>
        <p:nvSpPr>
          <p:cNvPr id="128" name="Text 105"/>
          <p:cNvSpPr txBox="1"/>
          <p:nvPr/>
        </p:nvSpPr>
        <p:spPr>
          <a:xfrm>
            <a:off x="2234794" y="6486754"/>
            <a:ext cx="7589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2013-2024</a:t>
            </a:r>
            <a:endParaRPr lang="en-US" sz="900" dirty="0"/>
          </a:p>
        </p:txBody>
      </p:sp>
      <p:pic>
        <p:nvPicPr>
          <p:cNvPr id="130" name="그림 129">
            <a:extLst>
              <a:ext uri="{FF2B5EF4-FFF2-40B4-BE49-F238E27FC236}">
                <a16:creationId xmlns:a16="http://schemas.microsoft.com/office/drawing/2014/main" id="{CDA5D7A2-C87A-7807-8AD6-4CFD434BDFC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8509" y="61579"/>
            <a:ext cx="1608592" cy="619334"/>
          </a:xfrm>
          <a:prstGeom prst="rect">
            <a:avLst/>
          </a:prstGeom>
        </p:spPr>
      </p:pic>
      <p:sp>
        <p:nvSpPr>
          <p:cNvPr id="131" name="Text 51">
            <a:extLst>
              <a:ext uri="{FF2B5EF4-FFF2-40B4-BE49-F238E27FC236}">
                <a16:creationId xmlns:a16="http://schemas.microsoft.com/office/drawing/2014/main" id="{0B5992F2-528D-9A85-B420-CD7314668AFB}"/>
              </a:ext>
            </a:extLst>
          </p:cNvPr>
          <p:cNvSpPr txBox="1"/>
          <p:nvPr/>
        </p:nvSpPr>
        <p:spPr>
          <a:xfrm>
            <a:off x="10126980" y="6495898"/>
            <a:ext cx="1734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NeoLAB</a:t>
            </a:r>
            <a:r>
              <a:rPr lang="ko-KR" alt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Convergence | 2026</a:t>
            </a:r>
            <a:endParaRPr lang="en-US" alt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09905" y="952805"/>
            <a:ext cx="111639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및 현재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362456"/>
            <a:ext cx="11087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neo.lab convergence의 17년간의 성장 과정과 현재 상태를 요약합니다. </a:t>
            </a:r>
            <a:r>
              <a:rPr lang="en-US" sz="10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서논술 AI 평가 시스템 '아이글'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출시로 AI 플랫폼 영역 확장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905" y="1781251"/>
            <a:ext cx="2600554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9244" y="19815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2085746"/>
            <a:ext cx="171907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04849" y="2076602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과정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" y="2514600"/>
            <a:ext cx="22768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기반 확보 → 제품 다각화 → 글로벌 인정 → </a:t>
            </a:r>
            <a:r>
              <a:rPr lang="en-US" sz="9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플랫폼 확장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" y="3001975"/>
            <a:ext cx="295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연혁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2655418" y="2987345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17+년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400654" y="1781251"/>
            <a:ext cx="2600554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3600907" y="19815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05149" y="2085746"/>
            <a:ext cx="171907" cy="17190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095598" y="2076602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라인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3600907" y="2514600"/>
            <a:ext cx="22768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소리펜 → Neo.1 → N2 세트 → M1/A1/R1 &amp; 페이퍼튜브 → </a:t>
            </a:r>
            <a:r>
              <a:rPr lang="en-US" sz="9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아이글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3600907" y="3001975"/>
            <a:ext cx="428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제품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5600700" y="2987345"/>
            <a:ext cx="277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91402" y="1781251"/>
            <a:ext cx="2600554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6391656" y="19815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95898" y="2085746"/>
            <a:ext cx="171907" cy="17190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886346" y="2076602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확장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6391656" y="2514600"/>
            <a:ext cx="22768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필기·교육 솔루션 → 해외진출 지속(2015~) → </a:t>
            </a:r>
            <a:r>
              <a:rPr lang="en-US" sz="9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평가 시스템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6391656" y="3001975"/>
            <a:ext cx="54406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진출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8114386" y="2987345"/>
            <a:ext cx="5861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30+국가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8982151" y="1781251"/>
            <a:ext cx="2600554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9182405" y="198150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9305849" y="2085746"/>
            <a:ext cx="133502" cy="171907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677095" y="2076602"/>
            <a:ext cx="448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신뢰도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9182405" y="2514600"/>
            <a:ext cx="22768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정부·디자인 어워드·수출탑·혁신기업/유니콘 선정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9182405" y="3001975"/>
            <a:ext cx="544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수상/인증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1027664" y="2987345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20+개</a:t>
            </a:r>
            <a:endParaRPr lang="en-US" sz="10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rcRect l="-8" r="-8"/>
          <a:stretch/>
        </p:blipFill>
        <p:spPr>
          <a:xfrm>
            <a:off x="609905" y="3629254"/>
            <a:ext cx="10972800" cy="895198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819302" y="3838651"/>
            <a:ext cx="476402" cy="47640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972007" y="3962095"/>
            <a:ext cx="171907" cy="22860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447495" y="3853282"/>
            <a:ext cx="10116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아날로그 필기와 디지털을 잇는 스마트펜 리더십 강화 </a:t>
            </a: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1447495" y="4119372"/>
            <a:ext cx="100401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neo.lab convergence는 17년간의 기술 축적을 바탕으로, </a:t>
            </a:r>
            <a:r>
              <a:rPr lang="en-US" sz="9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서논술 AI 평가 시스템 '아이글'</a:t>
            </a: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출시하여 AI 기반 교육 평가 플랫폼으로 확장하고 있습니다.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609905" y="4791456"/>
            <a:ext cx="18095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기반 확보 (2009-2013)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11341303" y="4791456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9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rcRect l="-201" r="-201"/>
          <a:stretch/>
        </p:blipFill>
        <p:spPr>
          <a:xfrm>
            <a:off x="609905" y="5029200"/>
            <a:ext cx="10972800" cy="75895"/>
          </a:xfrm>
          <a:prstGeom prst="rect">
            <a:avLst/>
          </a:prstGeom>
        </p:spPr>
      </p:pic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rcRect l="-201" r="-201"/>
          <a:stretch/>
        </p:blipFill>
        <p:spPr>
          <a:xfrm>
            <a:off x="609905" y="5029200"/>
            <a:ext cx="2743200" cy="75895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609905" y="5219395"/>
            <a:ext cx="2154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다각화 및 해외진출 (2014-2018)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11341303" y="5219395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90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9"/>
          <a:srcRect l="-201" r="-201"/>
          <a:stretch/>
        </p:blipFill>
        <p:spPr>
          <a:xfrm>
            <a:off x="609905" y="5458054"/>
            <a:ext cx="10972800" cy="75895"/>
          </a:xfrm>
          <a:prstGeom prst="rect">
            <a:avLst/>
          </a:prstGeom>
        </p:spPr>
      </p:pic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1"/>
          <a:srcRect l="-201" r="-201"/>
          <a:stretch/>
        </p:blipFill>
        <p:spPr>
          <a:xfrm>
            <a:off x="609905" y="5458054"/>
            <a:ext cx="5486400" cy="75895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609905" y="5648249"/>
            <a:ext cx="30156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플랫폼 확장 (2019-2026) </a:t>
            </a:r>
            <a:r>
              <a:rPr lang="en-US" sz="9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서논술 AI 평가 시스템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11341303" y="5648249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85%</a:t>
            </a:r>
            <a:endParaRPr lang="en-US" sz="90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9"/>
          <a:srcRect l="-201" r="-201"/>
          <a:stretch/>
        </p:blipFill>
        <p:spPr>
          <a:xfrm>
            <a:off x="609905" y="5886907"/>
            <a:ext cx="10972800" cy="75895"/>
          </a:xfrm>
          <a:prstGeom prst="rect">
            <a:avLst/>
          </a:prstGeom>
        </p:spPr>
      </p:pic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2"/>
          <a:srcRect l="-202" r="-202"/>
          <a:stretch/>
        </p:blipFill>
        <p:spPr>
          <a:xfrm>
            <a:off x="609905" y="5886907"/>
            <a:ext cx="9326880" cy="75895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5"/>
          <p:cNvSpPr/>
          <p:nvPr/>
        </p:nvSpPr>
        <p:spPr>
          <a:xfrm>
            <a:off x="609905" y="6500470"/>
            <a:ext cx="152705" cy="15270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642823" y="6529730"/>
            <a:ext cx="85954" cy="95098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838505" y="6486754"/>
            <a:ext cx="12554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기반 확보 완료</a:t>
            </a:r>
            <a:endParaRPr lang="en-US" sz="900" dirty="0"/>
          </a:p>
        </p:txBody>
      </p:sp>
      <p:sp>
        <p:nvSpPr>
          <p:cNvPr id="62" name="Shape 47"/>
          <p:cNvSpPr/>
          <p:nvPr/>
        </p:nvSpPr>
        <p:spPr>
          <a:xfrm>
            <a:off x="2082089" y="6500470"/>
            <a:ext cx="152705" cy="15270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2115922" y="6529730"/>
            <a:ext cx="85954" cy="95098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2310689" y="6486754"/>
            <a:ext cx="10515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다각화 완료</a:t>
            </a:r>
            <a:endParaRPr lang="en-US" sz="900" dirty="0"/>
          </a:p>
        </p:txBody>
      </p:sp>
      <p:sp>
        <p:nvSpPr>
          <p:cNvPr id="65" name="Shape 49"/>
          <p:cNvSpPr/>
          <p:nvPr/>
        </p:nvSpPr>
        <p:spPr>
          <a:xfrm>
            <a:off x="3406140" y="6500470"/>
            <a:ext cx="152705" cy="152705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3439973" y="6529730"/>
            <a:ext cx="85954" cy="95098"/>
          </a:xfrm>
          <a:prstGeom prst="rect">
            <a:avLst/>
          </a:prstGeom>
        </p:spPr>
      </p:pic>
      <p:sp>
        <p:nvSpPr>
          <p:cNvPr id="67" name="Text 50"/>
          <p:cNvSpPr txBox="1"/>
          <p:nvPr/>
        </p:nvSpPr>
        <p:spPr>
          <a:xfrm>
            <a:off x="3634740" y="6486754"/>
            <a:ext cx="128564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평가 시스템 출시</a:t>
            </a:r>
            <a:endParaRPr lang="en-US" sz="900" dirty="0"/>
          </a:p>
        </p:txBody>
      </p:sp>
      <p:sp>
        <p:nvSpPr>
          <p:cNvPr id="68" name="Text 51"/>
          <p:cNvSpPr txBox="1"/>
          <p:nvPr/>
        </p:nvSpPr>
        <p:spPr>
          <a:xfrm>
            <a:off x="10126980" y="6495898"/>
            <a:ext cx="1734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NeoLAB</a:t>
            </a:r>
            <a:r>
              <a:rPr lang="ko-KR" alt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onvergence | 2026</a:t>
            </a:r>
            <a:endParaRPr lang="en-US" sz="900" dirty="0"/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FD08C971-C6D3-762D-211A-9FE9ECEAE43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509" y="61579"/>
            <a:ext cx="1608592" cy="6193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712</Words>
  <Application>Microsoft Office PowerPoint</Application>
  <PresentationFormat>와이드스크린</PresentationFormat>
  <Paragraphs>219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정선웅</cp:lastModifiedBy>
  <cp:revision>2</cp:revision>
  <dcterms:created xsi:type="dcterms:W3CDTF">2026-04-10T01:52:54Z</dcterms:created>
  <dcterms:modified xsi:type="dcterms:W3CDTF">2026-04-10T02:05:13Z</dcterms:modified>
</cp:coreProperties>
</file>